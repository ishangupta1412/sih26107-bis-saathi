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INDIA HACKATHON 2026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828800" y="914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TITLE PAGE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509760" y="2286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SMART INDIA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HACKATHON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658368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Problem Statement ID – </a:t>
            </a:r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SIH26107
</a:t>
            </a:r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Problem Statement Title-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Intelligent Assistant for Bureau of Indian Standards (BIS) — Consumer &amp; Manufacturer Services
</a:t>
            </a:r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Theme-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Governance &amp; Citizen Empowerment / Consumer Safety
</a:t>
            </a:r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PS Category- Software/Hardware </a:t>
            </a:r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
</a:t>
            </a:r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Team ID-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 Team ID on Portal]
</a:t>
            </a:r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Team Name (Registered on portal) </a:t>
            </a:r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Strophoid
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589520" y="1645920"/>
            <a:ext cx="402336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B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PROJECT: BIS SAATHI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Team Strophoid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63840" y="2651760"/>
            <a:ext cx="3474720" cy="822960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0" y="26974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350+ Mandatory QCOs Covered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Scheduled Indian Languages + Voice TTS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863840" y="3657600"/>
            <a:ext cx="3474720" cy="82296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0" y="37033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License Regex &amp; DB Check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Zero-PII Anonymous Whistleblower Portal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0" y="47548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Ministry: Consumer Affairs, Food &amp; Public Distribution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Venue: Bennett University · 11 Sept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1645920" cy="73152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Strophoid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94560" y="41148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IDEA TITLE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509760" y="2286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SMART INDIA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HACKATHON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6446520"/>
            <a:ext cx="5788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0972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❖ Proposed Solution (Describe your Idea/Solution/Prototype)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1645920"/>
            <a:ext cx="1078992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Detailed explanation of the proposed solution: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BIS Saathi by Team Strophoid is an intelligent, bilingual multimodal regulatory assistant bridging MSME manufacturers and 1.4B Indian citizens.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Integrates Gemini 3.6 Flash multimodal AI with Supabase vector search and deterministic license validation engines.
</a:t>
            </a:r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How it addresses the problem: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For MSMEs: Resolves confusion across 350+ QCOs; generates pre-audit document packages (Scheme I/II/FMCS) in 30s instead of weeks.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For Consumers: 1-tap verification of ISI CM/L &amp; CRS numbers + AI packaging photo inspection to eliminate counterfeit goods in local markets.
</a:t>
            </a:r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Innovation and uniqueness of the solution: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Deterministic + Generative Duality: Zero-hallucination regex checking for safety licenses + multimodal AI for regional language guidance.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Whistleblower Privacy Guard: Server-side Zero-PII purge under DPDP Act 2023 for reporting counterfeit cartels under Section 29.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Indian Accessibility Compliance: Engineered strictly to IS 17802:2021 &amp; GIGW 3.0 with native voice TTS in 22 regional languages.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1645920" cy="73152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Strophoid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94560" y="41148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APPROACH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509760" y="2286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SMART INDIA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HACKATHON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6446520"/>
            <a:ext cx="5788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09728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Technologies to be used (e.g. programming languages, frameworks, hardware):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1417320"/>
            <a:ext cx="10789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Frontend &amp; Core: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 (App Router), React 19, TypeScript, Tailwind CSS (Obsidian Dark Theme), Turbopack Engine
</a:t>
            </a:r>
            <a:pPr indent="0" marL="0">
              <a:buNone/>
            </a:pPr>
            <a:r>
              <a:rPr lang="en-US" sz="1100" b="1" dirty="0">
                <a:solidFill>
                  <a:srgbClr val="0F2B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Multimodal AI &amp; RAG: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3.6 Flash (Text &amp; Vision), Supabase pgvector embeddings (IS Standards Catalog)
</a:t>
            </a:r>
            <a:pPr indent="0" marL="0">
              <a:buNone/>
            </a:pPr>
            <a:r>
              <a:rPr lang="en-US" sz="1100" b="1" dirty="0">
                <a:solidFill>
                  <a:srgbClr val="0F2B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Security &amp; Edge API: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Route Handlers, In-Memory Sliding-Window Rate Limiting (30 req/min), Zero-PII Server Sanitizer
</a:t>
            </a:r>
            <a:pPr indent="0" marL="0">
              <a:buNone/>
            </a:pPr>
            <a:r>
              <a:rPr lang="en-US" sz="1100" b="1" dirty="0">
                <a:solidFill>
                  <a:srgbClr val="0F2B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Accessibility &amp; Voice: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17802:2021 / WCAG 2.1 AA, Web Speech API (Client-side Speech Recognition &amp; Multi-script Indic TTS)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6060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Methodology and process for implementation (Flow Charts/Images/ working prototype):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2971800"/>
            <a:ext cx="1920240" cy="914400"/>
          </a:xfrm>
          <a:prstGeom prst="roundRect">
            <a:avLst/>
          </a:prstGeom>
          <a:solidFill>
            <a:srgbClr val="0F2B4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0175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User Request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(22 Languages / Mic / Photo)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697480" y="32461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</a:rPr>
              <a:t>➔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926080" y="2971800"/>
            <a:ext cx="1920240" cy="9144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30175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Edge Rate Limit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(30 req/min anti-abuse)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92040" y="32461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</a:rPr>
              <a:t>➔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120640" y="2971800"/>
            <a:ext cx="1920240" cy="9144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30175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Indic Script Router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(Unicode Classifier)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086600" y="32461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</a:rPr>
              <a:t>➔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0" y="2971800"/>
            <a:ext cx="1920240" cy="914400"/>
          </a:xfrm>
          <a:prstGeom prst="roundRect">
            <a:avLst/>
          </a:prstGeom>
          <a:solidFill>
            <a:srgbClr val="0F2B4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0" y="30175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Gemini 3.6 + RAG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(pgvector + SIT Data)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281160" y="32461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</a:rPr>
              <a:t>➔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509760" y="2971800"/>
            <a:ext cx="1920240" cy="914400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09760" y="30175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Verified Response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(Native Script + TTS Voice)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31520" y="4114800"/>
            <a:ext cx="338328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20624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License Validator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Regex: ISI CM/L-\d{7,10} &amp; CRS R-\d{8}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verification against active registry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Benchmark test numbers for 1-click demo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89120" y="4114800"/>
            <a:ext cx="338328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0560" y="420624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MSME Document Checklist Generator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Schemes: ISI (I), CRS (II), FMCS (Overseas)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Generates 8+ pre-audit statutory records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1-Click PDF print export for factory audits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046720" y="4114800"/>
            <a:ext cx="338328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38160" y="420624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Whistleblower Enforcement Portal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Legal grounding: Section 29 BIS Act 2016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Server-side Zero-PII anonymous purge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5-stage CMED investigation docket stepper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1645920" cy="73152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Strophoid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94560" y="41148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FEASIBILITY AND VIABILITY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509760" y="2286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SMART INDIA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HACKATHON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6446520"/>
            <a:ext cx="5788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05156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Analysis of the feasibility of the idea (Technical &amp; Economic Viability):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132588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Technical Feasibility: Built on production Next.js 16 + Vercel Edge CDN with &lt;800ms response latency. Fallback matrix guarantees 0% downtime.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Economic Viability: Browser-native TTS (₹0) + Edge caching (₹0) + Gemini Flash API = Total hosting &amp; API cost &lt; ₹10,000/month for 100,000 active users.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96596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Potential challenges and risks &amp; Strategies for overcoming these challenges: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286000"/>
          <a:ext cx="10789920" cy="2560320"/>
        </p:xfrm>
        <a:graphic>
          <a:graphicData uri="http://schemas.openxmlformats.org/drawingml/2006/table">
            <a:tbl>
              <a:tblPr/>
              <a:tblGrid>
                <a:gridCol w="2560320"/>
                <a:gridCol w="1097280"/>
                <a:gridCol w="713232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Challenge / Risk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Mitigation Strategy in BIS Saathi (Team Strophoid)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Hallucination on Standards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Deterministic regex &amp; database lookup first; LLM temperature locked to 0.2 with strict prompt boundaries.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Quota / Network Outage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Statutory Fallback Matrix (lib/fallbacks.ts) provides verified instant tables for 20+ core standards offline.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 Language Script Glitches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Unicode character scanner without ASCII \b boundaries accurately isolates Devanagari, Bengali, Tamil, Telugu.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Abuse / DDoS Attacks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Sliding-window in-memory rate limiter caps requests at 30 req/min (chat) and 10/hr (complaint submissions).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Whistleblower Retaliation Risk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Strict Zero-PII Server Purge: Name, phone, email &amp; IP are nullified before writing to the database.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731520" y="5029200"/>
            <a:ext cx="10789920" cy="1097280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507492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🏛️ Government Scale &amp; Deployment Path (NIC MeghRaj Cloud):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Containerized Docker architecture allows 1-click migration to NIC Cloud Kubernetes. Gemini API is swappable with on-premise open-source LLMs (Llama-3-70B) for 100% sovereign data residency.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1645920" cy="73152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Strophoid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94560" y="41148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 AND BENEFITS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509760" y="2286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SMART INDIA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HACKATHON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6446520"/>
            <a:ext cx="5788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05156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Potential impact on the target audience (MSMEs &amp; Indian Citizens):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132588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For 63M+ MSMEs: Reduces certification discovery &amp; pre-audit preparation from 3 weeks to 30 seconds, eliminating expensive consulting overheads.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For 1.4B Citizens: Enables real-time verification of ISI &amp; Hallmark marks, preventing purchases of hazardous counterfeit goods in 22 native languages.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96596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Benefits of the solution (social, economic, environmental, etc.):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2331720"/>
            <a:ext cx="5303520" cy="11887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40487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B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Economic Benefit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4400" y="2660904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Accelerates Make in India by fast-tracking BIS licensing for small manufacturers; prevents revenue leakage from spurious goods.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2331720"/>
            <a:ext cx="5303520" cy="11887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40487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B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Social &amp; Safety Benefit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0" y="2660904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Protects consumer lives by eliminating uncertified two-wheeler helmets, substandard pressure cookers, and hazardous electrical items.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657600"/>
            <a:ext cx="5303520" cy="118872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CD3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73075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B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Regulatory &amp; Legal Benefit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14400" y="3986784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Strengthens enforcement under Section 29 of BIS Act 2016; provides structured, geotagged intelligence for CMED surveillance officers.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3657600"/>
            <a:ext cx="5303520" cy="118872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C4B5F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73075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B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♿ Digital Inclusion Benefit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0" y="3986784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to IS 17802:2021 &amp; GIGW 3.0; empowers rural artisans, elderly citizens, and visually challenged users via voice interaction.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5029200"/>
            <a:ext cx="10789920" cy="1097280"/>
          </a:xfrm>
          <a:prstGeom prst="rect">
            <a:avLst/>
          </a:prstGeom>
          <a:solidFill>
            <a:srgbClr val="0F2B48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3949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350+ Mandatory QCOs  |  22 Indian Languages  |  63M+ MSMEs Empowered  |  &lt;800ms AI Latency  |  &lt;₹10K Monthly Cloud Cost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1645920" cy="73152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Strophoid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94560" y="41148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AND REFERENCES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509760" y="2286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SMART INDIA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HACKATHON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6446520"/>
            <a:ext cx="5788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05156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Details / Links of the reference and research work: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1371600"/>
            <a:ext cx="521208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Statutory Acts &amp; Regulatory Orders:
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Bureau of Indian Standards Act, 2016 — Sections 14 (Certification Schemes), 16 (QCOs), 29 (Penalties). https://www.bis.gov.in
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Digital Personal Data Protection (DPDP) Act, 2023 — Section 6: Data Minimization &amp; Whistleblower Privacy. https://meity.gov.in
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Consumer Protection Act, 2019 — Protection against spurious goods and misleading safety claims. https://consumeraffairs.nic.in
</a:t>
            </a:r>
            <a:pPr indent="0" marL="0">
              <a:buNone/>
            </a:pPr>
            <a:r>
              <a:rPr lang="en-US" sz="1100" b="1" dirty="0">
                <a:solidFill>
                  <a:srgbClr val="0F2B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Government Portals Referenced:
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e-BIS / Manakonline Portal — Official License Grant &amp; Application Portal: https://www.manakonline.in
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Compulsory Registration Scheme (CRS) Portal — IT &amp; Electronics: https://www.crsbis.in
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National Portal of India — https://www.india.gov.in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217920" y="1371600"/>
            <a:ext cx="521208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Accessibility &amp; Web Standards:
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IS 17802:2021 (Parts 1 &amp; 2) — Accessibility in ICT Products and Services (Indian Standard). Bureau of Indian Standards.
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GIGW 3.0 — Guidelines for Indian Government Websites (2023), Ministry of Electronics and IT (MeitY).
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W3C WCAG 2.1 Level AA — Web Content Accessibility Guidelines. https://www.w3.org/WAI
</a:t>
            </a:r>
            <a:pPr indent="0" marL="0">
              <a:buNone/>
            </a:pPr>
            <a:r>
              <a:rPr lang="en-US" sz="1100" b="1" dirty="0">
                <a:solidFill>
                  <a:srgbClr val="0F2B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Frameworks &amp; Indian Standards:
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Next.js 16 App Router &amp; Turbopack — Vercel Documentation: https://nextjs.org/docs
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Google Gemini 3.6 Flash API — Multimodal LLM: https://ai.google.dev
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IS Specifications: IS 4151:2015 (Helmets), IS 2347:2017 (Cookers), IS 1417:2016 (Gold Hallmark HUID).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6</Slides>
	<Notes>6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6</vt:i4></vt:variant>
		</vt:vector>
	</HeadingPairs>
	<TitlesOfParts>
		<vt:vector size="9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
		</vt:vector>
	</TitlesOfParts>
	<Company>Ministry of Consumer Affairs, Food & Public Distribution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BIS Saathi - SIH 2026 Presentation</dc:title>
  <dc:subject>PptxGenJS Presentation</dc:subject>
  <dc:creator>Team Strophoid</dc:creator>
  <cp:lastModifiedBy>Team Strophoid</cp:lastModifiedBy>
  <cp:revision>1</cp:revision>
  <dcterms:created xsi:type="dcterms:W3CDTF">2026-08-31T17:40:18Z</dcterms:created>
  <dcterms:modified xsi:type="dcterms:W3CDTF">2026-08-31T17:40:18Z</dcterms:modified>
</cp:coreProperties>
</file>